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6795" y="640080"/>
            <a:ext cx="3749039" cy="3749039"/>
          </a:xfrm>
          <a:prstGeom prst="ellipse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89235" y="-364490"/>
            <a:ext cx="2377440" cy="2377440"/>
          </a:xfrm>
          <a:prstGeom prst="ellipse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3695" y="2969895"/>
            <a:ext cx="2127885" cy="2222500"/>
          </a:xfrm>
          <a:prstGeom prst="ellipse">
            <a:avLst/>
          </a:prstGeom>
          <a:solidFill>
            <a:srgbClr val="101F38"/>
          </a:solidFill>
          <a:ln>
            <a:solidFill>
              <a:srgbClr val="10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6766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EBEAA"/>
                </a:solidFill>
                <a:latin typeface="Aptos"/>
              </a:rPr>
              <a:t>OSSP  •  OPERATING SYSTEMS PROJECT</a:t>
            </a:r>
            <a:endParaRPr sz="12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850392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INTER-PROCESS
CHAT APPLICATION</a:t>
            </a:r>
            <a:endParaRPr sz="34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2788920"/>
            <a:ext cx="79552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60D5E1"/>
                </a:solidFill>
                <a:latin typeface="Aptos"/>
              </a:rPr>
              <a:t>Using Inter-Process Communication (IPC)</a:t>
            </a:r>
            <a:endParaRPr sz="1800" b="0" i="0">
              <a:solidFill>
                <a:srgbClr val="60D5E1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672" y="3401568"/>
            <a:ext cx="868680" cy="54864"/>
          </a:xfrm>
          <a:prstGeom prst="rect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767328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9BACF"/>
                </a:solidFill>
                <a:latin typeface="Aptos"/>
              </a:rPr>
              <a:t>SUBJECT</a:t>
            </a:r>
            <a:endParaRPr sz="1000" b="1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4041648"/>
            <a:ext cx="1828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8FAFC"/>
                </a:solidFill>
                <a:latin typeface="Aptos"/>
              </a:rPr>
              <a:t>OSSP</a:t>
            </a:r>
            <a:endParaRPr sz="19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545" y="5053203"/>
            <a:ext cx="2286000" cy="2260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9BACF"/>
                </a:solidFill>
                <a:latin typeface="Aptos"/>
              </a:rPr>
              <a:t>PROJECT TEAM</a:t>
            </a:r>
            <a:r>
              <a:rPr lang="en-US" sz="1000" b="1" i="0">
                <a:solidFill>
                  <a:srgbClr val="A9BACF"/>
                </a:solidFill>
                <a:latin typeface="Aptos"/>
              </a:rPr>
              <a:t> :</a:t>
            </a:r>
            <a:endParaRPr lang="en-US" sz="1000" b="1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545" y="5230368"/>
            <a:ext cx="484632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8FAFC"/>
                </a:solidFill>
                <a:latin typeface="Aptos"/>
              </a:rPr>
              <a:t>Harshitha.B  —  2520080007
Krishnasree  —  2520080009
Vennala  —  252008018</a:t>
            </a:r>
            <a:endParaRPr sz="1500" b="0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2" y="6053328"/>
            <a:ext cx="8046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A9BACF"/>
                </a:solidFill>
                <a:latin typeface="Aptos"/>
              </a:rPr>
              <a:t>Two independent processes. One conversation.</a:t>
            </a:r>
            <a:endParaRPr sz="1200" b="0" i="1">
              <a:solidFill>
                <a:srgbClr val="A9BAC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9BACF"/>
                </a:solidFill>
                <a:latin typeface="Aptos"/>
              </a:rPr>
              <a:t>01 / 10</a:t>
            </a:r>
            <a:endParaRPr sz="900" b="0" i="0">
              <a:solidFill>
                <a:srgbClr val="A9BA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01 • OVERVIEW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Introduction</a:t>
            </a:r>
            <a:endParaRPr sz="27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21615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ACF"/>
                </a:solidFill>
                <a:latin typeface="Aptos"/>
              </a:rPr>
              <a:t>A simple chat application that demonstrates how independent processes exchange information.</a:t>
            </a:r>
            <a:endParaRPr sz="12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685800" cy="41148"/>
          </a:xfrm>
          <a:prstGeom prst="rect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9BACF"/>
                </a:solidFill>
                <a:latin typeface="Aptos"/>
              </a:rPr>
              <a:t>02  /  10</a:t>
            </a:r>
            <a:endParaRPr sz="9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5303520" cy="3520440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39112"/>
            <a:ext cx="50292" cy="3374136"/>
          </a:xfrm>
          <a:prstGeom prst="rect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49194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What is IPC?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919472" cy="28254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6EEF7"/>
                </a:solidFill>
                <a:latin typeface="Aptos"/>
              </a:defRPr>
            </a:pPr>
            <a:r>
              <a:t>•  Inter-Process Communication allows separate processes to exchange data.</a:t>
            </a:r>
          </a:p>
          <a:p>
            <a:pPr>
              <a:spcAft>
                <a:spcPts val="700"/>
              </a:spcAft>
              <a:defRPr sz="1500">
                <a:solidFill>
                  <a:srgbClr val="E6EEF7"/>
                </a:solidFill>
                <a:latin typeface="Aptos"/>
              </a:defRPr>
            </a:pPr>
            <a:r>
              <a:t>•  Each process has its own memory space, so communication needs an OS-supported mechanism.</a:t>
            </a:r>
          </a:p>
          <a:p>
            <a:pPr>
              <a:spcAft>
                <a:spcPts val="700"/>
              </a:spcAft>
              <a:defRPr sz="1500">
                <a:solidFill>
                  <a:srgbClr val="E6EEF7"/>
                </a:solidFill>
                <a:latin typeface="Aptos"/>
              </a:defRPr>
            </a:pPr>
            <a:r>
              <a:t>•  IPC is used in operating systems, background services, and multi-process applications.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257800" cy="3520440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39112"/>
            <a:ext cx="50292" cy="3374136"/>
          </a:xfrm>
          <a:prstGeom prst="rect">
            <a:avLst/>
          </a:prstGeom>
          <a:solidFill>
            <a:srgbClr val="60D5E1"/>
          </a:solidFill>
          <a:ln>
            <a:solidFill>
              <a:srgbClr val="60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130552"/>
            <a:ext cx="48737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Our project idea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9088" y="2532888"/>
            <a:ext cx="4873752" cy="28254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6EEF7"/>
                </a:solidFill>
                <a:latin typeface="Aptos"/>
              </a:defRPr>
            </a:pPr>
            <a:r>
              <a:t>•  Create two independent chat processes: User A and User B.</a:t>
            </a:r>
          </a:p>
          <a:p>
            <a:pPr>
              <a:spcAft>
                <a:spcPts val="700"/>
              </a:spcAft>
              <a:defRPr sz="1500">
                <a:solidFill>
                  <a:srgbClr val="E6EEF7"/>
                </a:solidFill>
                <a:latin typeface="Aptos"/>
              </a:defRPr>
            </a:pPr>
            <a:r>
              <a:t>•  Send and receive messages in both directions through named pipes (FIFOs).</a:t>
            </a:r>
          </a:p>
          <a:p>
            <a:pPr>
              <a:spcAft>
                <a:spcPts val="700"/>
              </a:spcAft>
              <a:defRPr sz="1500">
                <a:solidFill>
                  <a:srgbClr val="E6EEF7"/>
                </a:solidFill>
                <a:latin typeface="Aptos"/>
              </a:defRPr>
            </a:pPr>
            <a:r>
              <a:t>•  Display messages in the terminal and handle exit and common errors safely.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79008"/>
            <a:ext cx="1280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CORE IDEA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240" y="5715000"/>
            <a:ext cx="7132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Process A  ⇄  IPC channel  ⇄  Process B</a:t>
            </a:r>
            <a:endParaRPr sz="1800" b="1" i="0">
              <a:solidFill>
                <a:srgbClr val="F8FA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02 • DEFINE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Problem Statement</a:t>
            </a:r>
            <a:endParaRPr sz="27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21615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ACF"/>
                </a:solidFill>
                <a:latin typeface="Aptos"/>
              </a:rPr>
              <a:t>Independent processes need a controlled way to exchange messages.</a:t>
            </a:r>
            <a:endParaRPr sz="12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685800" cy="41148"/>
          </a:xfrm>
          <a:prstGeom prst="rect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9BACF"/>
                </a:solidFill>
                <a:latin typeface="Aptos"/>
              </a:rPr>
              <a:t>03  /  10</a:t>
            </a:r>
            <a:endParaRPr sz="9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C55C"/>
                </a:solidFill>
                <a:latin typeface="Aptos"/>
              </a:rPr>
              <a:t>THE CHALLENGE</a:t>
            </a:r>
            <a:endParaRPr sz="1100" b="1" i="0">
              <a:solidFill>
                <a:srgbClr val="FFC55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6400800" cy="2743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6EEF7"/>
                </a:solidFill>
                <a:latin typeface="Aptos"/>
              </a:defRPr>
            </a:pPr>
            <a:r>
              <a:t>•  Processes normally operate in separate memory spaces.</a:t>
            </a:r>
          </a:p>
          <a:p>
            <a:pPr>
              <a:spcAft>
                <a:spcPts val="1200"/>
              </a:spcAft>
              <a:defRPr sz="1700">
                <a:solidFill>
                  <a:srgbClr val="E6EEF7"/>
                </a:solidFill>
                <a:latin typeface="Aptos"/>
              </a:defRPr>
            </a:pPr>
            <a:r>
              <a:t>•  One process cannot directly read another process’s private memory.</a:t>
            </a:r>
          </a:p>
          <a:p>
            <a:pPr>
              <a:spcAft>
                <a:spcPts val="1200"/>
              </a:spcAft>
              <a:defRPr sz="1700">
                <a:solidFill>
                  <a:srgbClr val="E6EEF7"/>
                </a:solidFill>
                <a:latin typeface="Aptos"/>
              </a:defRPr>
            </a:pPr>
            <a:r>
              <a:t>•  Communication must account for synchronization, message ordering, and process exit.</a:t>
            </a:r>
          </a:p>
          <a:p>
            <a:pPr>
              <a:spcAft>
                <a:spcPts val="1200"/>
              </a:spcAft>
              <a:defRPr sz="1700">
                <a:solidFill>
                  <a:srgbClr val="E6EEF7"/>
                </a:solidFill>
                <a:latin typeface="Aptos"/>
              </a:defRPr>
            </a:pPr>
            <a:r>
              <a:t>•  A simple, demonstrable communication channel is needed for two-way exchange.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011680"/>
            <a:ext cx="3520440" cy="3246120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331720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BEAA"/>
                </a:solidFill>
                <a:latin typeface="Aptos"/>
              </a:rPr>
              <a:t>PROPOSED SOLUTION</a:t>
            </a:r>
            <a:endParaRPr sz="11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0" y="2788920"/>
            <a:ext cx="278892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8FAFC"/>
                </a:solidFill>
                <a:latin typeface="Aptos"/>
              </a:rPr>
              <a:t>Build a two-way chat application using IPC.</a:t>
            </a:r>
            <a:endParaRPr sz="22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65770" y="4020820"/>
            <a:ext cx="3181350" cy="8032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6EEF7"/>
                </a:solidFill>
                <a:latin typeface="Aptos"/>
              </a:rPr>
              <a:t>Two named pipes provide separate paths for A → B and B → A.</a:t>
            </a:r>
            <a:endParaRPr sz="14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97840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60D5E1"/>
                </a:solidFill>
                <a:latin typeface="Aptos"/>
              </a:rPr>
              <a:t>Goal: reliable local message exchange with clean shutdown.</a:t>
            </a:r>
            <a:endParaRPr sz="1500" b="1" i="0">
              <a:solidFill>
                <a:srgbClr val="60D5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03 • ARCHITECTURE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System Design</a:t>
            </a:r>
            <a:endParaRPr sz="27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21615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ACF"/>
                </a:solidFill>
                <a:latin typeface="Aptos"/>
              </a:rPr>
              <a:t>Two independent processes communicate through two one-way FIFO channels.</a:t>
            </a:r>
            <a:endParaRPr sz="12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685800" cy="41148"/>
          </a:xfrm>
          <a:prstGeom prst="rect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9BACF"/>
                </a:solidFill>
                <a:latin typeface="Aptos"/>
              </a:rPr>
              <a:t>04  /  10</a:t>
            </a:r>
            <a:endParaRPr sz="9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2743200" cy="1874519"/>
          </a:xfrm>
          <a:prstGeom prst="roundRect">
            <a:avLst/>
          </a:prstGeom>
          <a:solidFill>
            <a:srgbClr val="192F4F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78608"/>
            <a:ext cx="2148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PROCESS A</a:t>
            </a:r>
            <a:endParaRPr sz="18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214884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E6EEF7"/>
                </a:solidFill>
                <a:latin typeface="Aptos"/>
              </a:rPr>
              <a:t>User 1
Input + display</a:t>
            </a:r>
            <a:endParaRPr sz="15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09160" y="2148840"/>
            <a:ext cx="2788920" cy="2240280"/>
          </a:xfrm>
          <a:prstGeom prst="roundRect">
            <a:avLst/>
          </a:prstGeom>
          <a:solidFill>
            <a:srgbClr val="164350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441448"/>
            <a:ext cx="2240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IPC LAYER</a:t>
            </a:r>
            <a:endParaRPr sz="18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83480" y="2971800"/>
            <a:ext cx="22402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60D5E1"/>
                </a:solidFill>
                <a:latin typeface="Aptos"/>
              </a:rPr>
              <a:t>FIFO A → B
FIFO B → A</a:t>
            </a:r>
            <a:endParaRPr sz="1600" b="1" i="0">
              <a:solidFill>
                <a:srgbClr val="60D5E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41080" y="2331720"/>
            <a:ext cx="2743200" cy="1874519"/>
          </a:xfrm>
          <a:prstGeom prst="roundRect">
            <a:avLst/>
          </a:prstGeom>
          <a:solidFill>
            <a:srgbClr val="192F4F"/>
          </a:solidFill>
          <a:ln>
            <a:solidFill>
              <a:srgbClr val="60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578608"/>
            <a:ext cx="2148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PROCESS B</a:t>
            </a:r>
            <a:endParaRPr sz="18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15400" y="3063240"/>
            <a:ext cx="214884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E6EEF7"/>
                </a:solidFill>
                <a:latin typeface="Aptos"/>
              </a:rPr>
              <a:t>User 2
Input + display</a:t>
            </a:r>
            <a:endParaRPr sz="1500" b="0" i="0">
              <a:solidFill>
                <a:srgbClr val="E6EEF7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520440" y="2852928"/>
            <a:ext cx="1188720" cy="0"/>
          </a:xfrm>
          <a:prstGeom prst="line">
            <a:avLst/>
          </a:prstGeom>
          <a:ln w="31750">
            <a:solidFill>
              <a:srgbClr val="1E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520440" y="3730752"/>
            <a:ext cx="1188720" cy="0"/>
          </a:xfrm>
          <a:prstGeom prst="line">
            <a:avLst/>
          </a:prstGeom>
          <a:ln w="31750">
            <a:solidFill>
              <a:srgbClr val="60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98079" y="2852928"/>
            <a:ext cx="1143001" cy="0"/>
          </a:xfrm>
          <a:prstGeom prst="line">
            <a:avLst/>
          </a:prstGeom>
          <a:ln w="31750">
            <a:solidFill>
              <a:srgbClr val="1EB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498079" y="3730752"/>
            <a:ext cx="1143001" cy="0"/>
          </a:xfrm>
          <a:prstGeom prst="line">
            <a:avLst/>
          </a:prstGeom>
          <a:ln w="31750">
            <a:solidFill>
              <a:srgbClr val="60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03320" y="254203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send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75887" y="3822191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0D5E1"/>
                </a:solidFill>
                <a:latin typeface="Aptos"/>
              </a:rPr>
              <a:t>reply</a:t>
            </a:r>
            <a:endParaRPr sz="1000" b="1" i="0">
              <a:solidFill>
                <a:srgbClr val="60D5E1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35240" y="2542032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send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35240" y="3822191"/>
            <a:ext cx="731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0D5E1"/>
                </a:solidFill>
                <a:latin typeface="Aptos"/>
              </a:rPr>
              <a:t>reply</a:t>
            </a:r>
            <a:endParaRPr sz="1000" b="1" i="0">
              <a:solidFill>
                <a:srgbClr val="60D5E1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14400" y="4983480"/>
            <a:ext cx="10241280" cy="731520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193792"/>
            <a:ext cx="9784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6EEF7"/>
                </a:solidFill>
                <a:latin typeface="Aptos"/>
              </a:rPr>
              <a:t>OS responsibilities: pipe access • process coordination • resource cleanup</a:t>
            </a:r>
            <a:endParaRPr sz="1500" b="1" i="0">
              <a:solidFill>
                <a:srgbClr val="E6EEF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04 • BUILD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Implementation Approach</a:t>
            </a:r>
            <a:endParaRPr sz="27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21615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ACF"/>
                </a:solidFill>
                <a:latin typeface="Aptos"/>
              </a:rPr>
              <a:t>A practical sequence for building the prototype in C on Linux.</a:t>
            </a:r>
            <a:endParaRPr sz="12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685800" cy="41148"/>
          </a:xfrm>
          <a:prstGeom prst="rect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9BACF"/>
                </a:solidFill>
                <a:latin typeface="Aptos"/>
              </a:rPr>
              <a:t>05  /  10</a:t>
            </a:r>
            <a:endParaRPr sz="9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822960" y="1965960"/>
            <a:ext cx="475488" cy="475488"/>
          </a:xfrm>
          <a:prstGeom prst="ellipse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66543"/>
            <a:ext cx="4754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1F38"/>
                </a:solidFill>
                <a:latin typeface="Aptos"/>
              </a:rPr>
              <a:t>01</a:t>
            </a:r>
            <a:endParaRPr sz="1100" b="1" i="0">
              <a:solidFill>
                <a:srgbClr val="101F38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060704" y="2450591"/>
            <a:ext cx="0" cy="274321"/>
          </a:xfrm>
          <a:prstGeom prst="line">
            <a:avLst/>
          </a:prstGeom>
          <a:ln w="19050">
            <a:solidFill>
              <a:srgbClr val="A9B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54480" y="1956816"/>
            <a:ext cx="2377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Create FIFOs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86200" y="1956816"/>
            <a:ext cx="69494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EF7"/>
                </a:solidFill>
                <a:latin typeface="Aptos"/>
              </a:rPr>
              <a:t>Create two named pipes for opposite message directions.</a:t>
            </a:r>
            <a:endParaRPr sz="13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22960" y="2752344"/>
            <a:ext cx="475488" cy="475488"/>
          </a:xfrm>
          <a:prstGeom prst="ellipse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52927"/>
            <a:ext cx="4754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1F38"/>
                </a:solidFill>
                <a:latin typeface="Aptos"/>
              </a:rPr>
              <a:t>02</a:t>
            </a:r>
            <a:endParaRPr sz="1100" b="1" i="0">
              <a:solidFill>
                <a:srgbClr val="101F38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060704" y="3236976"/>
            <a:ext cx="0" cy="274320"/>
          </a:xfrm>
          <a:prstGeom prst="line">
            <a:avLst/>
          </a:prstGeom>
          <a:ln w="19050">
            <a:solidFill>
              <a:srgbClr val="A9B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54480" y="2743200"/>
            <a:ext cx="2377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Launch processes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86200" y="2743200"/>
            <a:ext cx="69494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EF7"/>
                </a:solidFill>
                <a:latin typeface="Aptos"/>
              </a:rPr>
              <a:t>Run the same program as User A and User B in two terminals.</a:t>
            </a:r>
            <a:endParaRPr sz="13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" y="3538728"/>
            <a:ext cx="475488" cy="475488"/>
          </a:xfrm>
          <a:prstGeom prst="ellipse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39312"/>
            <a:ext cx="4754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1F38"/>
                </a:solidFill>
                <a:latin typeface="Aptos"/>
              </a:rPr>
              <a:t>03</a:t>
            </a:r>
            <a:endParaRPr sz="1100" b="1" i="0">
              <a:solidFill>
                <a:srgbClr val="101F38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060704" y="4023360"/>
            <a:ext cx="0" cy="274320"/>
          </a:xfrm>
          <a:prstGeom prst="line">
            <a:avLst/>
          </a:prstGeom>
          <a:ln w="19050">
            <a:solidFill>
              <a:srgbClr val="A9B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4480" y="3529584"/>
            <a:ext cx="2377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Send &amp; receive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86200" y="3529584"/>
            <a:ext cx="69494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EF7"/>
                </a:solidFill>
                <a:latin typeface="Aptos"/>
              </a:rPr>
              <a:t>Use open(), read(), and write() to transfer messages.</a:t>
            </a:r>
            <a:endParaRPr sz="13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22960" y="4325112"/>
            <a:ext cx="475488" cy="475488"/>
          </a:xfrm>
          <a:prstGeom prst="ellipse">
            <a:avLst/>
          </a:prstGeom>
          <a:solidFill>
            <a:srgbClr val="60D5E1"/>
          </a:solidFill>
          <a:ln>
            <a:solidFill>
              <a:srgbClr val="60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25696"/>
            <a:ext cx="4754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1F38"/>
                </a:solidFill>
                <a:latin typeface="Aptos"/>
              </a:rPr>
              <a:t>04</a:t>
            </a:r>
            <a:endParaRPr sz="1100" b="1" i="0">
              <a:solidFill>
                <a:srgbClr val="101F38"/>
              </a:solidFill>
              <a:latin typeface="Aptos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1060704" y="4809744"/>
            <a:ext cx="0" cy="274320"/>
          </a:xfrm>
          <a:prstGeom prst="line">
            <a:avLst/>
          </a:prstGeom>
          <a:ln w="19050">
            <a:solidFill>
              <a:srgbClr val="A9B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54480" y="4315968"/>
            <a:ext cx="2377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Handle concurrency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86200" y="4315968"/>
            <a:ext cx="69494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EF7"/>
                </a:solidFill>
                <a:latin typeface="Aptos"/>
              </a:rPr>
              <a:t>Use a receiver thread or event-driven I/O so messages arrive while typing.</a:t>
            </a:r>
            <a:endParaRPr sz="13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22960" y="5111496"/>
            <a:ext cx="475488" cy="475488"/>
          </a:xfrm>
          <a:prstGeom prst="ellipse">
            <a:avLst/>
          </a:prstGeom>
          <a:solidFill>
            <a:srgbClr val="60D5E1"/>
          </a:solidFill>
          <a:ln>
            <a:solidFill>
              <a:srgbClr val="60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212080"/>
            <a:ext cx="4754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1F38"/>
                </a:solidFill>
                <a:latin typeface="Aptos"/>
              </a:rPr>
              <a:t>05</a:t>
            </a:r>
            <a:endParaRPr sz="1100" b="1" i="0">
              <a:solidFill>
                <a:srgbClr val="101F38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54480" y="5102352"/>
            <a:ext cx="2377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Validate &amp; exit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86200" y="5102352"/>
            <a:ext cx="69494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EF7"/>
                </a:solidFill>
                <a:latin typeface="Aptos"/>
              </a:rPr>
              <a:t>Check input, handle unavailable peers, and close pipes cleanly.</a:t>
            </a:r>
            <a:endParaRPr sz="13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72768" y="6080760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C55C"/>
                </a:solidFill>
                <a:latin typeface="Aptos"/>
              </a:rPr>
              <a:t>Example exit command: /exit</a:t>
            </a:r>
            <a:endParaRPr sz="1200" b="1" i="0">
              <a:solidFill>
                <a:srgbClr val="FFC5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05 • TECHNOLOGY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Technologies Used</a:t>
            </a:r>
            <a:endParaRPr sz="27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21615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ACF"/>
                </a:solidFill>
                <a:latin typeface="Aptos"/>
              </a:rPr>
              <a:t>A lightweight stack chosen to highlight operating-system concepts.</a:t>
            </a:r>
            <a:endParaRPr sz="12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685800" cy="41148"/>
          </a:xfrm>
          <a:prstGeom prst="rect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9BACF"/>
                </a:solidFill>
                <a:latin typeface="Aptos"/>
              </a:rPr>
              <a:t>06  /  10</a:t>
            </a:r>
            <a:endParaRPr sz="9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29000" cy="1417320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194560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C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2880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EBEAA"/>
                </a:solidFill>
                <a:latin typeface="Aptos"/>
              </a:rPr>
              <a:t>CORE LANGUAGE</a:t>
            </a:r>
            <a:endParaRPr sz="9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2926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Implements process logic and IPC system calls.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53712" y="2011680"/>
            <a:ext cx="3429000" cy="1417320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79" y="2221992"/>
            <a:ext cx="438912" cy="438912"/>
          </a:xfrm>
          <a:prstGeom prst="ellipse">
            <a:avLst/>
          </a:prstGeom>
          <a:solidFill>
            <a:srgbClr val="60D5E1"/>
          </a:solidFill>
          <a:ln>
            <a:solidFill>
              <a:srgbClr val="60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1" y="2194560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Linux / Ubuntu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82312" y="2706624"/>
            <a:ext cx="2880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0D5E1"/>
                </a:solidFill>
                <a:latin typeface="Aptos"/>
              </a:rPr>
              <a:t>OPERATING SYSTEM</a:t>
            </a:r>
            <a:endParaRPr sz="900" b="1" i="0">
              <a:solidFill>
                <a:srgbClr val="60D5E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82312" y="2926080"/>
            <a:ext cx="2926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Supports POSIX APIs and named pipes.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75904" y="2011680"/>
            <a:ext cx="3429000" cy="1417320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77072" y="2221992"/>
            <a:ext cx="438912" cy="438912"/>
          </a:xfrm>
          <a:prstGeom prst="ellipse">
            <a:avLst/>
          </a:prstGeom>
          <a:solidFill>
            <a:srgbClr val="3FCD96"/>
          </a:solidFill>
          <a:ln>
            <a:solidFill>
              <a:srgbClr val="3FC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2194560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POSIX FIFO APIs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04504" y="2706624"/>
            <a:ext cx="2880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FCD96"/>
                </a:solidFill>
                <a:latin typeface="Aptos"/>
              </a:rPr>
              <a:t>IPC MECHANISM</a:t>
            </a:r>
            <a:endParaRPr sz="900" b="1" i="0">
              <a:solidFill>
                <a:srgbClr val="3FCD96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04504" y="2926080"/>
            <a:ext cx="2926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mkfifo(), open(), read(), and write().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39"/>
            <a:ext cx="3429000" cy="1417320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959352"/>
            <a:ext cx="438912" cy="438912"/>
          </a:xfrm>
          <a:prstGeom prst="ellipse">
            <a:avLst/>
          </a:prstGeom>
          <a:solidFill>
            <a:srgbClr val="FFC55C"/>
          </a:solidFill>
          <a:ln>
            <a:solidFill>
              <a:srgbClr val="FF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3931920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Pthreads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" y="4443983"/>
            <a:ext cx="2880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C55C"/>
                </a:solidFill>
                <a:latin typeface="Aptos"/>
              </a:rPr>
              <a:t>CONCURRENCY</a:t>
            </a:r>
            <a:endParaRPr sz="900" b="1" i="0">
              <a:solidFill>
                <a:srgbClr val="FFC55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" y="4663440"/>
            <a:ext cx="2926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Allows receiving and sending to proceed concurrently.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53712" y="3749039"/>
            <a:ext cx="3429000" cy="1417320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54879" y="3959352"/>
            <a:ext cx="438912" cy="438912"/>
          </a:xfrm>
          <a:prstGeom prst="ellipse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0951" y="3931920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GCC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82312" y="4443983"/>
            <a:ext cx="2880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EBEAA"/>
                </a:solidFill>
                <a:latin typeface="Aptos"/>
              </a:rPr>
              <a:t>COMPILER</a:t>
            </a:r>
            <a:endParaRPr sz="9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82312" y="4663440"/>
            <a:ext cx="2926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Builds the C program from source code.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375904" y="3749039"/>
            <a:ext cx="3429000" cy="1417320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77072" y="3959352"/>
            <a:ext cx="438912" cy="438912"/>
          </a:xfrm>
          <a:prstGeom prst="ellipse">
            <a:avLst/>
          </a:prstGeom>
          <a:solidFill>
            <a:srgbClr val="60D5E1"/>
          </a:solidFill>
          <a:ln>
            <a:solidFill>
              <a:srgbClr val="60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53144" y="3931920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VS Code + Terminal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604504" y="4443983"/>
            <a:ext cx="2880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0D5E1"/>
                </a:solidFill>
                <a:latin typeface="Aptos"/>
              </a:rPr>
              <a:t>DEVELOPMENT TOOLS</a:t>
            </a:r>
            <a:endParaRPr sz="900" b="1" i="0">
              <a:solidFill>
                <a:srgbClr val="60D5E1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04504" y="4663440"/>
            <a:ext cx="2926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Edit, compile, run, and test two process instances.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0D5E1"/>
                </a:solidFill>
                <a:latin typeface="Aptos"/>
              </a:rPr>
              <a:t>Why this stack? It is low-cost, easy to demonstrate, and directly connected to OS-level IPC.</a:t>
            </a:r>
            <a:endParaRPr sz="1400" b="1" i="0">
              <a:solidFill>
                <a:srgbClr val="60D5E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06 • VALIDATION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Testing</a:t>
            </a:r>
            <a:endParaRPr sz="27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21615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ACF"/>
                </a:solidFill>
                <a:latin typeface="Aptos"/>
              </a:rPr>
              <a:t>Test normal communication as well as error and shutdown scenarios.</a:t>
            </a:r>
            <a:endParaRPr sz="12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685800" cy="41148"/>
          </a:xfrm>
          <a:prstGeom prst="rect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9BACF"/>
                </a:solidFill>
                <a:latin typeface="Aptos"/>
              </a:rPr>
              <a:t>07  /  10</a:t>
            </a:r>
            <a:endParaRPr sz="9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2194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TEST CASE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54680" y="1938528"/>
            <a:ext cx="39776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PROCEDURE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0" y="1938528"/>
            <a:ext cx="39776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EXPECTED BEHAVIOUR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8" y="2331720"/>
            <a:ext cx="10744200" cy="530352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59736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ptos"/>
              </a:rPr>
              <a:t>Basic messaging</a:t>
            </a:r>
            <a:endParaRPr sz="12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54680" y="2450591"/>
            <a:ext cx="3886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A sends a message to B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0" y="2450591"/>
            <a:ext cx="3886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B displays the correct message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2990087"/>
            <a:ext cx="10744200" cy="530352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18103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ptos"/>
              </a:rPr>
              <a:t>Reverse reply</a:t>
            </a:r>
            <a:endParaRPr sz="12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54680" y="3108959"/>
            <a:ext cx="3886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B sends a response to A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0" y="3108959"/>
            <a:ext cx="3886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A receives the reply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648456"/>
            <a:ext cx="10744200" cy="530352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76472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ptos"/>
              </a:rPr>
              <a:t>Multiple messages</a:t>
            </a:r>
            <a:endParaRPr sz="12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54680" y="3767328"/>
            <a:ext cx="3886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Send several messages in sequence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0" y="3767328"/>
            <a:ext cx="3886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Messages appear in the intended order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49808" y="4306824"/>
            <a:ext cx="10744200" cy="530352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34840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ptos"/>
              </a:rPr>
              <a:t>Peer unavailable</a:t>
            </a:r>
            <a:endParaRPr sz="12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54680" y="4425696"/>
            <a:ext cx="3886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Start only one process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0" y="4425696"/>
            <a:ext cx="3886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App handles waiting or open failure safely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49808" y="4965192"/>
            <a:ext cx="10744200" cy="530352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93207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Aptos"/>
              </a:rPr>
              <a:t>Exit handling</a:t>
            </a:r>
            <a:endParaRPr sz="12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54680" y="5084064"/>
            <a:ext cx="3886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Enter /exit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0" y="5084064"/>
            <a:ext cx="3886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6EEF7"/>
                </a:solidFill>
                <a:latin typeface="Aptos"/>
              </a:rPr>
              <a:t>Process closes resources cleanly</a:t>
            </a:r>
            <a:endParaRPr sz="1100" b="0" i="0">
              <a:solidFill>
                <a:srgbClr val="E6EEF7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68680" y="5989320"/>
            <a:ext cx="10424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55C"/>
                </a:solidFill>
                <a:latin typeface="Aptos"/>
              </a:rPr>
              <a:t>Testing note: record actual outcomes and screenshots after running the implementation.</a:t>
            </a:r>
            <a:endParaRPr sz="1300" b="1" i="0">
              <a:solidFill>
                <a:srgbClr val="FFC5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07 • OUTCOMES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Results &amp; Demonstration</a:t>
            </a:r>
            <a:endParaRPr sz="27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9953" y="122123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ACF"/>
                </a:solidFill>
                <a:latin typeface="Aptos"/>
              </a:rPr>
              <a:t>What the completed prototype should demonstrate.</a:t>
            </a:r>
            <a:endParaRPr sz="12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685800" cy="41148"/>
          </a:xfrm>
          <a:prstGeom prst="rect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9BACF"/>
                </a:solidFill>
                <a:latin typeface="Aptos"/>
              </a:rPr>
              <a:t>08  /  10</a:t>
            </a:r>
            <a:endParaRPr sz="9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27240" y="6089650"/>
            <a:ext cx="4800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9BACF"/>
                </a:solidFill>
                <a:latin typeface="Aptos"/>
              </a:rPr>
              <a:t>Illustrative output — replace with real terminal screenshots after testing.</a:t>
            </a:r>
            <a:endParaRPr sz="1000" b="0" i="1">
              <a:solidFill>
                <a:srgbClr val="A9BAC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878" y="5078857"/>
            <a:ext cx="4187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Expected outcomes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240" y="1802765"/>
            <a:ext cx="3876040" cy="327596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630" y="1489075"/>
            <a:ext cx="4064635" cy="4085590"/>
          </a:xfrm>
          <a:prstGeom prst="rect">
            <a:avLst/>
          </a:prstGeom>
        </p:spPr>
      </p:pic>
      <p:sp>
        <p:nvSpPr>
          <p:cNvPr id="24" name="Text Box 23"/>
          <p:cNvSpPr txBox="1"/>
          <p:nvPr/>
        </p:nvSpPr>
        <p:spPr>
          <a:xfrm>
            <a:off x="454660" y="5398770"/>
            <a:ext cx="4876800" cy="929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Aft>
                <a:spcPts val="700"/>
              </a:spcAft>
              <a:defRPr sz="1400">
                <a:solidFill>
                  <a:srgbClr val="E6EEF7"/>
                </a:solidFill>
                <a:latin typeface="Aptos"/>
              </a:defRPr>
            </a:pPr>
            <a:r>
              <a:rPr>
                <a:sym typeface="+mn-ea"/>
              </a:rPr>
              <a:t>•  Messages travel in both directions.</a:t>
            </a:r>
            <a:endParaRPr>
              <a:sym typeface="+mn-ea"/>
            </a:endParaRPr>
          </a:p>
          <a:p>
            <a:pPr>
              <a:spcAft>
                <a:spcPts val="700"/>
              </a:spcAft>
              <a:defRPr sz="1400">
                <a:solidFill>
                  <a:srgbClr val="E6EEF7"/>
                </a:solidFill>
                <a:latin typeface="Aptos"/>
              </a:defRPr>
            </a:pPr>
            <a:r>
              <a:rPr>
                <a:sym typeface="+mn-ea"/>
              </a:rPr>
              <a:t>•  Sender and message text are displayed clearly.</a:t>
            </a:r>
            <a:endParaRPr>
              <a:sym typeface="+mn-ea"/>
            </a:endParaRPr>
          </a:p>
          <a:p>
            <a:pPr>
              <a:spcAft>
                <a:spcPts val="700"/>
              </a:spcAft>
              <a:defRPr sz="1400">
                <a:solidFill>
                  <a:srgbClr val="E6EEF7"/>
                </a:solidFill>
                <a:latin typeface="Aptos"/>
              </a:defRPr>
            </a:pPr>
            <a:r>
              <a:rPr>
                <a:sym typeface="+mn-ea"/>
              </a:rPr>
              <a:t>•  Several messages can be exchanged in one session.</a:t>
            </a:r>
            <a:endParaRPr>
              <a:sym typeface="+mn-ea"/>
            </a:endParaRPr>
          </a:p>
          <a:p>
            <a:pPr>
              <a:spcAft>
                <a:spcPts val="700"/>
              </a:spcAft>
              <a:defRPr sz="1400">
                <a:solidFill>
                  <a:srgbClr val="E6EEF7"/>
                </a:solidFill>
                <a:latin typeface="Aptos"/>
              </a:defRPr>
            </a:pPr>
            <a:r>
              <a:rPr>
                <a:sym typeface="+mn-ea"/>
              </a:rPr>
              <a:t>•  The application handles exit and common errors</a:t>
            </a:r>
            <a:endParaRPr lang="en-GB" altLang="en-US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08 • VALUE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Impact &amp; Conclusion</a:t>
            </a:r>
            <a:endParaRPr sz="27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21615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ACF"/>
                </a:solidFill>
                <a:latin typeface="Aptos"/>
              </a:rPr>
              <a:t>A compact project that turns an OS concept into a working demonstration.</a:t>
            </a:r>
            <a:endParaRPr sz="12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685800" cy="41148"/>
          </a:xfrm>
          <a:prstGeom prst="rect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9BACF"/>
                </a:solidFill>
                <a:latin typeface="Aptos"/>
              </a:rPr>
              <a:t>09  /  10</a:t>
            </a:r>
            <a:endParaRPr sz="9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8" y="1965960"/>
            <a:ext cx="5257800" cy="3337560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039112"/>
            <a:ext cx="50292" cy="3191256"/>
          </a:xfrm>
          <a:prstGeom prst="rect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130552"/>
            <a:ext cx="48737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Impact &amp; applications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0976" y="2532888"/>
            <a:ext cx="4873752" cy="264261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6EEF7"/>
                </a:solidFill>
                <a:latin typeface="Aptos"/>
              </a:defRPr>
            </a:pPr>
            <a:r>
              <a:t>•  Builds practical understanding of process isolation and IPC.</a:t>
            </a:r>
          </a:p>
          <a:p>
            <a:pPr>
              <a:spcAft>
                <a:spcPts val="700"/>
              </a:spcAft>
              <a:defRPr sz="1400">
                <a:solidFill>
                  <a:srgbClr val="E6EEF7"/>
                </a:solidFill>
                <a:latin typeface="Aptos"/>
              </a:defRPr>
            </a:pPr>
            <a:r>
              <a:t>•  Relevant to local background services and separate software modules.</a:t>
            </a:r>
          </a:p>
          <a:p>
            <a:pPr>
              <a:spcAft>
                <a:spcPts val="700"/>
              </a:spcAft>
              <a:defRPr sz="1400">
                <a:solidFill>
                  <a:srgbClr val="E6EEF7"/>
                </a:solidFill>
                <a:latin typeface="Aptos"/>
              </a:defRPr>
            </a:pPr>
            <a:r>
              <a:t>•  Can be extended to multiple processes, a GUI, and message history.</a:t>
            </a:r>
          </a:p>
          <a:p>
            <a:pPr>
              <a:spcAft>
                <a:spcPts val="700"/>
              </a:spcAft>
              <a:defRPr sz="1400">
                <a:solidFill>
                  <a:srgbClr val="E6EEF7"/>
                </a:solidFill>
                <a:latin typeface="Aptos"/>
              </a:defRPr>
            </a:pPr>
            <a:r>
              <a:t>•  Security enhancements could add authentication and encryption.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166360" cy="3337560"/>
          </a:xfrm>
          <a:prstGeom prst="roundRect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39112"/>
            <a:ext cx="50292" cy="3191256"/>
          </a:xfrm>
          <a:prstGeom prst="rect">
            <a:avLst/>
          </a:prstGeom>
          <a:solidFill>
            <a:srgbClr val="60D5E1"/>
          </a:solidFill>
          <a:ln>
            <a:solidFill>
              <a:srgbClr val="60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130552"/>
            <a:ext cx="47823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Conclusion</a:t>
            </a:r>
            <a:endParaRPr sz="16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9088" y="2532888"/>
            <a:ext cx="4782312" cy="264261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6EEF7"/>
                </a:solidFill>
                <a:latin typeface="Aptos"/>
              </a:defRPr>
            </a:pPr>
            <a:r>
              <a:t>•  The design uses two independent processes and two FIFO channels.</a:t>
            </a:r>
          </a:p>
          <a:p>
            <a:pPr>
              <a:spcAft>
                <a:spcPts val="700"/>
              </a:spcAft>
              <a:defRPr sz="1400">
                <a:solidFill>
                  <a:srgbClr val="E6EEF7"/>
                </a:solidFill>
                <a:latin typeface="Aptos"/>
              </a:defRPr>
            </a:pPr>
            <a:r>
              <a:t>•  It demonstrates message transfer, concurrency, and cleanup.</a:t>
            </a:r>
          </a:p>
          <a:p>
            <a:pPr>
              <a:spcAft>
                <a:spcPts val="700"/>
              </a:spcAft>
              <a:defRPr sz="1400">
                <a:solidFill>
                  <a:srgbClr val="E6EEF7"/>
                </a:solidFill>
                <a:latin typeface="Aptos"/>
              </a:defRPr>
            </a:pPr>
            <a:r>
              <a:t>•  It provides a foundation for comparing FIFOs with queues and sockets.</a:t>
            </a:r>
          </a:p>
          <a:p>
            <a:pPr>
              <a:spcAft>
                <a:spcPts val="700"/>
              </a:spcAft>
              <a:defRPr sz="1400">
                <a:solidFill>
                  <a:srgbClr val="E6EEF7"/>
                </a:solidFill>
                <a:latin typeface="Aptos"/>
              </a:defRPr>
            </a:pPr>
            <a:r>
              <a:t>•  The prototype is local IPC, not an internet chat service.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50992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BEAA"/>
                </a:solidFill>
                <a:latin typeface="Aptos"/>
              </a:rPr>
              <a:t>KEY TAKEAWAY</a:t>
            </a:r>
            <a:endParaRPr sz="1000" b="1" i="0">
              <a:solidFill>
                <a:srgbClr val="1EBEA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1720" y="5577840"/>
            <a:ext cx="8595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IPC enables independent processes to coordinate without sharing private memory directly.</a:t>
            </a:r>
            <a:endParaRPr sz="1400" b="1" i="0">
              <a:solidFill>
                <a:srgbClr val="F8FA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182880"/>
            <a:ext cx="3917950" cy="4066540"/>
          </a:xfrm>
          <a:prstGeom prst="ellipse">
            <a:avLst/>
          </a:prstGeom>
          <a:solidFill>
            <a:srgbClr val="192F4F"/>
          </a:solidFill>
          <a:ln>
            <a:solidFill>
              <a:srgbClr val="19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005" y="-594360"/>
            <a:ext cx="3291840" cy="3291840"/>
          </a:xfrm>
          <a:prstGeom prst="ellipse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71125" y="2934970"/>
            <a:ext cx="2223135" cy="2343150"/>
          </a:xfrm>
          <a:prstGeom prst="ellipse">
            <a:avLst/>
          </a:prstGeom>
          <a:solidFill>
            <a:srgbClr val="101F38"/>
          </a:solidFill>
          <a:ln>
            <a:solidFill>
              <a:srgbClr val="10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676656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8FAFC"/>
                </a:solidFill>
                <a:latin typeface="Aptos"/>
              </a:rPr>
              <a:t>THANK YOU</a:t>
            </a:r>
            <a:endParaRPr sz="40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2880360"/>
            <a:ext cx="868680" cy="54864"/>
          </a:xfrm>
          <a:prstGeom prst="rect">
            <a:avLst/>
          </a:prstGeom>
          <a:solidFill>
            <a:srgbClr val="1EBEAA"/>
          </a:solidFill>
          <a:ln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68580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60D5E1"/>
                </a:solidFill>
                <a:latin typeface="Aptos"/>
              </a:rPr>
              <a:t>Inter-Process Chat Application Using IPC</a:t>
            </a:r>
            <a:endParaRPr sz="1800" b="0" i="0">
              <a:solidFill>
                <a:srgbClr val="60D5E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7315200" cy="2724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ACF"/>
                </a:solidFill>
                <a:latin typeface="Aptos"/>
              </a:rPr>
              <a:t>OSSP  •  Harshitha  •  Krishnasree  •  Vennala</a:t>
            </a:r>
            <a:endParaRPr sz="1300" b="0" i="0">
              <a:solidFill>
                <a:srgbClr val="A9BAC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Questions &amp; Discussion</a:t>
            </a:r>
            <a:endParaRPr sz="1500" b="1" i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9BACF"/>
                </a:solidFill>
                <a:latin typeface="Aptos"/>
              </a:rPr>
              <a:t>10 / 10</a:t>
            </a:r>
            <a:endParaRPr sz="900" b="0" i="0">
              <a:solidFill>
                <a:srgbClr val="A9BAC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4749</Words>
  <Application>WPS Presentation</Application>
  <PresentationFormat>On-screen Show (4:3)</PresentationFormat>
  <Paragraphs>280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Aptos</vt:lpstr>
      <vt:lpstr>Segoe UI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Inter-Process Chat Application Using IPC</dc:title>
  <dc:creator>Harshitha.B, Krishnasree, Vennala</dc:creator>
  <cp:keywords>IPC, Operating Systems, Named Pipes, FIFO, Chat Application</cp:keywords>
  <dc:description>generated using python-pptx</dc:description>
  <dc:subject>OSSP Operating Systems Project</dc:subject>
  <cp:lastModifiedBy>harsh</cp:lastModifiedBy>
  <cp:revision>4</cp:revision>
  <dcterms:created xsi:type="dcterms:W3CDTF">2013-01-27T09:14:00Z</dcterms:created>
  <dcterms:modified xsi:type="dcterms:W3CDTF">2026-10-16T15:28:06Z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B9A1A0FC621A4452A7352263A6BE6DAE_13</vt:lpwstr>
  </property>
  <property fmtid="{D5CDD505-2E9C-101B-9397-08002B2CF9AE}" pid="3" name="KSOProductBuildVer">
    <vt:lpwstr>2057-12.2.0.23206</vt:lpwstr>
  </property>
</Properties>
</file>